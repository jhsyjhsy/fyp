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18"/>
    </p:embeddedFont>
    <p:embeddedFont>
      <p:font typeface="DM Sans" pitchFamily="2" charset="77"/>
      <p:regular r:id="rId19"/>
      <p:bold r:id="rId20"/>
      <p:italic r:id="rId21"/>
      <p:boldItalic r:id="rId22"/>
    </p:embeddedFont>
    <p:embeddedFont>
      <p:font typeface="Mulish" pitchFamily="2" charset="77"/>
      <p:regular r:id="rId23"/>
      <p:bold r:id="rId24"/>
      <p:italic r:id="rId25"/>
      <p:boldItalic r:id="rId26"/>
    </p:embeddedFont>
    <p:embeddedFont>
      <p:font typeface="Nunito Light" pitchFamily="2" charset="77"/>
      <p:regular r:id="rId27"/>
      <p:italic r:id="rId28"/>
    </p:embeddedFont>
    <p:embeddedFont>
      <p:font typeface="PT Sans" panose="020B0503020203020204" pitchFamily="34" charset="77"/>
      <p:regular r:id="rId29"/>
      <p:bold r:id="rId30"/>
      <p:italic r:id="rId31"/>
      <p:boldItalic r:id="rId32"/>
    </p:embeddedFont>
    <p:embeddedFont>
      <p:font typeface="Quicksand" pitchFamily="2" charset="77"/>
      <p:regular r:id="rId33"/>
      <p:bold r:id="rId34"/>
    </p:embeddedFont>
    <p:embeddedFont>
      <p:font typeface="Quicksand Medium" pitchFamily="2" charset="77"/>
      <p:regular r:id="rId35"/>
      <p:bold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65C8C6-A115-405F-994F-0F5153310C72}">
  <a:tblStyle styleId="{A265C8C6-A115-405F-994F-0F5153310C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58"/>
    <p:restoredTop sz="78163"/>
  </p:normalViewPr>
  <p:slideViewPr>
    <p:cSldViewPr snapToGrid="0">
      <p:cViewPr varScale="1">
        <p:scale>
          <a:sx n="118" d="100"/>
          <a:sy n="118" d="100"/>
        </p:scale>
        <p:origin x="1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Radiology reports </a:t>
            </a:r>
            <a:r>
              <a:rPr lang="en" sz="1200" u="sng">
                <a:solidFill>
                  <a:srgbClr val="0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timely, accurate, and actionable information to the patient care team, facilitating diagnosis and guiding patient management, which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pivotal in clinical decision-making, serving as the primary communication tool between radiologists and referring physicians for diagnosis and management guidance</a:t>
            </a:r>
            <a:r>
              <a:rPr lang="en" sz="1200" strike="sng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</a:t>
            </a:r>
            <a:r>
              <a:rPr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[WC1]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" sz="1200" u="sng">
                <a:solidFill>
                  <a:srgbClr val="0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advent of artificial intelligence (AI) and in particular large language models (LLMs) are poised to change radiological practice. A collaborative model of AI can be used to handle repetitive tasks in the future thereby radiologists are able to focus on more complex cases, patient communication and final decision-making. However, the successful integration of AI hinges on overcoming significant challenges related to data quality, model interpretability and clinical workflow integration</a:t>
            </a:r>
            <a:r>
              <a:rPr lang="en" sz="1200" u="sng">
                <a:solidFill>
                  <a:srgbClr val="0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9b0d4932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9b0d4932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9b0d4932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9b0d4932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9b0d4932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9b0d4932c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9b0d4932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9b0d4932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Calculation:</a:t>
            </a:r>
            <a:br>
              <a:rPr lang="en"/>
            </a:br>
            <a:r>
              <a:rPr lang="en" sz="1200" u="sng">
                <a:solidFill>
                  <a:srgbClr val="0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power calculation of this study is based on a previous study by Elsie van Drisel who evaluate the effectiveness of GPT-4 in enabling patient comprehension of radiology reports, and showed that patient classification of report outcomes increased from 63.9% to 83.3%. Assuming GAI has a ~20% improvement in patient comprehension, a significance level (alpha) of 5%, power of 90% (1-beta), a sample size of 104 patients is necessary. With 5 different imaging modalities, this equates to ~500 patients in total</a:t>
            </a:r>
            <a:r>
              <a:rPr lang="en" sz="800" b="1" u="sng">
                <a:solidFill>
                  <a:srgbClr val="0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[KC1]</a:t>
            </a:r>
            <a:r>
              <a:rPr lang="en" sz="800" u="sng">
                <a:solidFill>
                  <a:srgbClr val="0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800" b="1">
                <a:solidFill>
                  <a:srgbClr val="99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[SH2]</a:t>
            </a:r>
            <a:r>
              <a:rPr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u="sng">
                <a:solidFill>
                  <a:srgbClr val="0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 u="sng">
              <a:solidFill>
                <a:srgbClr val="0080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9b0d4932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a9b0d4932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9b0d4932c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a9b0d4932c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9b0d4932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a9b0d4932c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then we will finetune it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from Human Feedback (RLHF)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9b0d4932c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9b0d4932c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9b0d4932c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a9b0d4932c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9b0d4932c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9b0d4932c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9b0d4932c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a9b0d4932c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9" name="Google Shape;19;p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" name="Google Shape;20;p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Google Shape;31;p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9" name="Google Shape;39;p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" name="Google Shape;43;p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" name="Google Shape;51;p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2" name="Google Shape;52;p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" name="Google Shape;53;p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4" name="Google Shape;54;p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" name="Google Shape;60;p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61" name="Google Shape;61;p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2" name="Google Shape;62;p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3" name="Google Shape;63;p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5" name="Google Shape;65;p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subTitle" idx="1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71" name="Google Shape;71;p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2" name="Google Shape;72;p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4" name="Google Shape;74;p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5" name="Google Shape;75;p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6" name="Google Shape;86;p1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87" name="Google Shape;87;p1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8" name="Google Shape;88;p1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9" name="Google Shape;89;p1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90" name="Google Shape;90;p1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1" name="Google Shape;91;p1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4" name="Google Shape;124;p1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5" name="Google Shape;125;p1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" name="Google Shape;126;p1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8" name="Google Shape;128;p1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1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subTitle" idx="1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4" name="Google Shape;134;p1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5" name="Google Shape;135;p1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6" name="Google Shape;136;p1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7" name="Google Shape;137;p1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8" name="Google Shape;138;p15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9" name="Google Shape;139;p1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1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>
            <a:spLocks noGrp="1"/>
          </p:cNvSpPr>
          <p:nvPr>
            <p:ph type="pic" idx="2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5" name="Google Shape;145;p1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46" name="Google Shape;146;p1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7" name="Google Shape;147;p1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8" name="Google Shape;148;p1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49" name="Google Shape;149;p1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0" name="Google Shape;150;p1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5" name="Google Shape;155;p1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6" name="Google Shape;156;p1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7" name="Google Shape;157;p1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9" name="Google Shape;159;p17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0" name="Google Shape;160;p1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subTitle" idx="3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4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5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6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1" name="Google Shape;171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3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5" name="Google Shape;185;p1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6" name="Google Shape;186;p1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7" name="Google Shape;187;p1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88" name="Google Shape;188;p1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9" name="Google Shape;189;p19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0" name="Google Shape;190;p1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1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2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3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4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5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6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0" name="Google Shape;200;p2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1" name="Google Shape;201;p2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Google Shape;202;p2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4" name="Google Shape;204;p20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5" name="Google Shape;205;p2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subTitle" idx="1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subTitle" idx="2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subTitle" idx="3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subTitle" idx="4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0"/>
          <p:cNvSpPr txBox="1">
            <a:spLocks noGrp="1"/>
          </p:cNvSpPr>
          <p:nvPr>
            <p:ph type="subTitle" idx="5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2" name="Google Shape;212;p20"/>
          <p:cNvSpPr txBox="1">
            <a:spLocks noGrp="1"/>
          </p:cNvSpPr>
          <p:nvPr>
            <p:ph type="subTitle" idx="6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subTitle" idx="7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subTitle" idx="8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7" name="Google Shape;217;p2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18" name="Google Shape;218;p2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9" name="Google Shape;219;p2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0" name="Google Shape;220;p2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21" name="Google Shape;221;p2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2" name="Google Shape;222;p2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23" name="Google Shape;2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1"/>
          <p:cNvSpPr txBox="1">
            <a:spLocks noGrp="1"/>
          </p:cNvSpPr>
          <p:nvPr>
            <p:ph type="subTitle" idx="1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subTitle" idx="2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subTitle" idx="3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subTitle" idx="4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subTitle" idx="5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ubTitle" idx="6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1"/>
          <p:cNvSpPr txBox="1">
            <a:spLocks noGrp="1"/>
          </p:cNvSpPr>
          <p:nvPr>
            <p:ph type="subTitle" idx="7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1" name="Google Shape;231;p21"/>
          <p:cNvSpPr txBox="1">
            <a:spLocks noGrp="1"/>
          </p:cNvSpPr>
          <p:nvPr>
            <p:ph type="subTitle" idx="8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subTitle" idx="9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 txBox="1">
            <a:spLocks noGrp="1"/>
          </p:cNvSpPr>
          <p:nvPr>
            <p:ph type="subTitle" idx="13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4" name="Google Shape;234;p21"/>
          <p:cNvSpPr txBox="1">
            <a:spLocks noGrp="1"/>
          </p:cNvSpPr>
          <p:nvPr>
            <p:ph type="subTitle" idx="14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5" name="Google Shape;235;p21"/>
          <p:cNvSpPr txBox="1">
            <a:spLocks noGrp="1"/>
          </p:cNvSpPr>
          <p:nvPr>
            <p:ph type="subTitle" idx="15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8" name="Google Shape;238;p2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9" name="Google Shape;239;p2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0" name="Google Shape;240;p2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41" name="Google Shape;241;p2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42" name="Google Shape;242;p2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3" name="Google Shape;243;p2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4" name="Google Shape;244;p22"/>
          <p:cNvSpPr txBox="1">
            <a:spLocks noGrp="1"/>
          </p:cNvSpPr>
          <p:nvPr>
            <p:ph type="title" hasCustomPrompt="1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2"/>
          <p:cNvSpPr txBox="1">
            <a:spLocks noGrp="1"/>
          </p:cNvSpPr>
          <p:nvPr>
            <p:ph type="subTitle" idx="1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22"/>
          <p:cNvSpPr txBox="1">
            <a:spLocks noGrp="1"/>
          </p:cNvSpPr>
          <p:nvPr>
            <p:ph type="subTitle" idx="3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8" name="Google Shape;248;p22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9" name="Google Shape;249;p22"/>
          <p:cNvSpPr txBox="1">
            <a:spLocks noGrp="1"/>
          </p:cNvSpPr>
          <p:nvPr>
            <p:ph type="subTitle" idx="5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3"/>
          <p:cNvSpPr txBox="1">
            <a:spLocks noGrp="1"/>
          </p:cNvSpPr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3"/>
          <p:cNvSpPr txBox="1">
            <a:spLocks noGrp="1"/>
          </p:cNvSpPr>
          <p:nvPr>
            <p:ph type="subTitle" idx="1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sz="1200" b="1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255" name="Google Shape;255;p2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56" name="Google Shape;256;p2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7" name="Google Shape;257;p2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8" name="Google Shape;258;p23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 txBox="1">
            <a:spLocks noGrp="1"/>
          </p:cNvSpPr>
          <p:nvPr>
            <p:ph type="ctrTitle"/>
          </p:nvPr>
        </p:nvSpPr>
        <p:spPr>
          <a:xfrm>
            <a:off x="1274612" y="1131604"/>
            <a:ext cx="6869400" cy="20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Quicksand Medium"/>
                <a:ea typeface="Quicksand Medium"/>
                <a:cs typeface="Quicksand Medium"/>
                <a:sym typeface="Quicksand Medium"/>
              </a:rPr>
              <a:t>Contextualized Lay Explanations using AI Radiology reports </a:t>
            </a:r>
            <a:endParaRPr sz="3000" dirty="0"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An</a:t>
            </a:r>
            <a:r>
              <a:rPr lang="en" sz="3000" dirty="0">
                <a:solidFill>
                  <a:schemeClr val="dk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" sz="2400" dirty="0">
                <a:solidFill>
                  <a:schemeClr val="dk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Artificial Intelligence (AI) -powered personalized patient-</a:t>
            </a:r>
            <a:r>
              <a:rPr lang="en" sz="2400" dirty="0" err="1">
                <a:solidFill>
                  <a:schemeClr val="dk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centred</a:t>
            </a:r>
            <a:r>
              <a:rPr lang="en" sz="2400" dirty="0">
                <a:solidFill>
                  <a:schemeClr val="dk2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communication system for interpretation of radiology findings</a:t>
            </a:r>
            <a:endParaRPr sz="2400" dirty="0">
              <a:solidFill>
                <a:schemeClr val="dk2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280" name="Google Shape;280;p26"/>
          <p:cNvSpPr txBox="1">
            <a:spLocks noGrp="1"/>
          </p:cNvSpPr>
          <p:nvPr>
            <p:ph type="subTitle" idx="1"/>
          </p:nvPr>
        </p:nvSpPr>
        <p:spPr>
          <a:xfrm>
            <a:off x="1799375" y="3867050"/>
            <a:ext cx="59427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Hui Sin Yu (UID:3036102866)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Supervisors: Dr. EYP Lee (HKU), Dr. KWH Chiu (QEH)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1" name="Google Shape;281;p26"/>
          <p:cNvCxnSpPr/>
          <p:nvPr/>
        </p:nvCxnSpPr>
        <p:spPr>
          <a:xfrm rot="10800000" flipH="1">
            <a:off x="1646825" y="3451030"/>
            <a:ext cx="6339300" cy="23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2" name="Google Shape;282;p26"/>
          <p:cNvCxnSpPr/>
          <p:nvPr/>
        </p:nvCxnSpPr>
        <p:spPr>
          <a:xfrm rot="10800000" flipH="1">
            <a:off x="1555475" y="1996535"/>
            <a:ext cx="6430500" cy="46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– Why this matters</a:t>
            </a:r>
            <a:endParaRPr/>
          </a:p>
        </p:txBody>
      </p:sp>
      <p:sp>
        <p:nvSpPr>
          <p:cNvPr id="288" name="Google Shape;288;p27"/>
          <p:cNvSpPr txBox="1">
            <a:spLocks noGrp="1"/>
          </p:cNvSpPr>
          <p:nvPr>
            <p:ph type="subTitle" idx="1"/>
          </p:nvPr>
        </p:nvSpPr>
        <p:spPr>
          <a:xfrm>
            <a:off x="720000" y="1386417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>
                <a:cs typeface="Al Bayan Plain" pitchFamily="2" charset="-78"/>
              </a:rPr>
              <a:t>Radiology reports are critical for diagnosis and patient management</a:t>
            </a:r>
            <a:endParaRPr sz="1600" dirty="0">
              <a:cs typeface="Al Bayan Plain" pitchFamily="2" charset="-7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cs typeface="Al Bayan Plain" pitchFamily="2" charset="-78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>
                <a:cs typeface="Al Bayan Plain" pitchFamily="2" charset="-78"/>
              </a:rPr>
              <a:t>Reports now directly accessible to patients (recent policy shift)</a:t>
            </a:r>
            <a:endParaRPr sz="1600" dirty="0">
              <a:cs typeface="Al Bayan Plain" pitchFamily="2" charset="-7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cs typeface="Al Bayan Plain" pitchFamily="2" charset="-78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>
                <a:cs typeface="Al Bayan Plain" pitchFamily="2" charset="-78"/>
              </a:rPr>
              <a:t>Major problem: Medical jargon → patient confusion, anxiety, misinterpretation</a:t>
            </a:r>
            <a:endParaRPr sz="1600" dirty="0">
              <a:cs typeface="Al Bayan Plain" pitchFamily="2" charset="-7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cs typeface="Al Bayan Plain" pitchFamily="2" charset="-7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cs typeface="Al Bayan Plain" pitchFamily="2" charset="-78"/>
            </a:endParaRPr>
          </a:p>
        </p:txBody>
      </p:sp>
      <p:sp>
        <p:nvSpPr>
          <p:cNvPr id="289" name="Google Shape;289;p27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90" name="Google Shape;290;p27" title="Screenshot 2025-11-25 at 23.49.33.png"/>
          <p:cNvPicPr preferRelativeResize="0"/>
          <p:nvPr/>
        </p:nvPicPr>
        <p:blipFill rotWithShape="1">
          <a:blip r:embed="rId3">
            <a:alphaModFix/>
          </a:blip>
          <a:srcRect t="40412"/>
          <a:stretch/>
        </p:blipFill>
        <p:spPr>
          <a:xfrm>
            <a:off x="4492800" y="2967672"/>
            <a:ext cx="4322625" cy="155889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7"/>
          <p:cNvSpPr txBox="1"/>
          <p:nvPr/>
        </p:nvSpPr>
        <p:spPr>
          <a:xfrm>
            <a:off x="4492800" y="4437575"/>
            <a:ext cx="45159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https://</a:t>
            </a:r>
            <a:r>
              <a:rPr lang="en" sz="1000" i="1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www.info.gov.hk</a:t>
            </a:r>
            <a:r>
              <a:rPr lang="en" sz="1000" i="1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/</a:t>
            </a:r>
            <a:r>
              <a:rPr lang="en" sz="1000" i="1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gia</a:t>
            </a:r>
            <a:r>
              <a:rPr lang="en" sz="1000" i="1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/general/202504/03/P2025040300250.htm</a:t>
            </a:r>
            <a:endParaRPr sz="1000" i="1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Limitations of AI Solutions</a:t>
            </a:r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subTitle" idx="2"/>
          </p:nvPr>
        </p:nvSpPr>
        <p:spPr>
          <a:xfrm>
            <a:off x="720025" y="224817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Fails to account for varying health literacy levels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Ignores cultural and linguistic diversity (crucial in Hong Kong)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Lacks personalization based on patient history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299" name="Google Shape;299;p28"/>
          <p:cNvSpPr txBox="1">
            <a:spLocks noGrp="1"/>
          </p:cNvSpPr>
          <p:nvPr>
            <p:ph type="subTitle" idx="3"/>
          </p:nvPr>
        </p:nvSpPr>
        <p:spPr>
          <a:xfrm>
            <a:off x="720025" y="41408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Concerns about AI hallucinations and patient safety</a:t>
            </a:r>
            <a:endParaRPr sz="1600" dirty="0"/>
          </a:p>
        </p:txBody>
      </p:sp>
      <p:sp>
        <p:nvSpPr>
          <p:cNvPr id="300" name="Google Shape;300;p28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Existing AI uses "one-size-fits-all" approach</a:t>
            </a:r>
            <a:endParaRPr dirty="0"/>
          </a:p>
        </p:txBody>
      </p:sp>
      <p:sp>
        <p:nvSpPr>
          <p:cNvPr id="301" name="Google Shape;301;p28"/>
          <p:cNvSpPr txBox="1">
            <a:spLocks noGrp="1"/>
          </p:cNvSpPr>
          <p:nvPr>
            <p:ph type="subTitle" idx="5"/>
          </p:nvPr>
        </p:nvSpPr>
        <p:spPr>
          <a:xfrm>
            <a:off x="720000" y="1744725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 gaps:</a:t>
            </a:r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subTitle" idx="6"/>
          </p:nvPr>
        </p:nvSpPr>
        <p:spPr>
          <a:xfrm>
            <a:off x="720025" y="3747225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Trust barrier: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9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08" name="Google Shape;308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Gap &amp; Innovation</a:t>
            </a:r>
            <a:endParaRPr/>
          </a:p>
        </p:txBody>
      </p:sp>
      <p:sp>
        <p:nvSpPr>
          <p:cNvPr id="309" name="Google Shape;309;p29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No validated system for personalized, multilingual, literacy-appropriate radiology reports</a:t>
            </a:r>
            <a:endParaRPr sz="1600"/>
          </a:p>
        </p:txBody>
      </p:sp>
      <p:sp>
        <p:nvSpPr>
          <p:cNvPr id="310" name="Google Shape;310;p29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AI that adapts to: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Patient's education level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Disease knowledge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Preferred language (critical for Hong Kong context)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Self-management skills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11" name="Google Shape;311;p29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Gap:</a:t>
            </a:r>
            <a:endParaRPr/>
          </a:p>
        </p:txBody>
      </p:sp>
      <p:sp>
        <p:nvSpPr>
          <p:cNvPr id="312" name="Google Shape;312;p29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innovation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18" name="Google Shape;31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Hypothesis &amp; Objectives</a:t>
            </a:r>
            <a:endParaRPr/>
          </a:p>
        </p:txBody>
      </p:sp>
      <p:sp>
        <p:nvSpPr>
          <p:cNvPr id="319" name="Google Shape;319;p30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Artificial Intelligence is able to provide a more personalised patient-centred communication for interpretation of radiology findings.</a:t>
            </a:r>
            <a:endParaRPr sz="1600"/>
          </a:p>
        </p:txBody>
      </p:sp>
      <p:sp>
        <p:nvSpPr>
          <p:cNvPr id="320" name="Google Shape;320;p30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To build a validated AI algorithm that generates personalised radiology reports: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Convey accurate medical information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Use patient's preferred language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Match patient's education level and disease knowledge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21" name="Google Shape;321;p30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Hypothesis:</a:t>
            </a:r>
            <a:endParaRPr/>
          </a:p>
        </p:txBody>
      </p:sp>
      <p:sp>
        <p:nvSpPr>
          <p:cNvPr id="322" name="Google Shape;322;p30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Objectives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28" name="Google Shape;328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Design Overview</a:t>
            </a:r>
            <a:endParaRPr/>
          </a:p>
        </p:txBody>
      </p:sp>
      <p:sp>
        <p:nvSpPr>
          <p:cNvPr id="329" name="Google Shape;329;p31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Using public, open-source datasets for preliminary training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Real radiology reports collected from Queen Elizabeth Hospital</a:t>
            </a:r>
            <a:endParaRPr sz="1600"/>
          </a:p>
        </p:txBody>
      </p:sp>
      <p:sp>
        <p:nvSpPr>
          <p:cNvPr id="330" name="Google Shape;330;p31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500 patients from QEH 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100 for each imaging modality for X-ray, USG, CT, MRI and Mammography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 English radiology reports and accompanied EHR data (structured and unstructured)</a:t>
            </a:r>
            <a:endParaRPr sz="1600"/>
          </a:p>
        </p:txBody>
      </p:sp>
      <p:sp>
        <p:nvSpPr>
          <p:cNvPr id="331" name="Google Shape;331;p31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Retrospective study</a:t>
            </a:r>
            <a:endParaRPr/>
          </a:p>
        </p:txBody>
      </p:sp>
      <p:sp>
        <p:nvSpPr>
          <p:cNvPr id="332" name="Google Shape;332;p31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Cohort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38" name="Google Shape;338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&amp; Curation</a:t>
            </a:r>
            <a:endParaRPr/>
          </a:p>
        </p:txBody>
      </p:sp>
      <p:sp>
        <p:nvSpPr>
          <p:cNvPr id="339" name="Google Shape;339;p32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Patients with English radiology reports from QEH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Reports linked to electronic patient records (ePR)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Complete diagnostic information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40" name="Google Shape;340;p32"/>
          <p:cNvSpPr txBox="1">
            <a:spLocks noGrp="1"/>
          </p:cNvSpPr>
          <p:nvPr>
            <p:ph type="subTitle" idx="2"/>
          </p:nvPr>
        </p:nvSpPr>
        <p:spPr>
          <a:xfrm>
            <a:off x="720000" y="3002800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Publicly available datasets which include English Radiology reports are downloaded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E.g. NIH Chest X rays, Padchest</a:t>
            </a:r>
            <a:endParaRPr/>
          </a:p>
        </p:txBody>
      </p:sp>
      <p:sp>
        <p:nvSpPr>
          <p:cNvPr id="341" name="Google Shape;341;p32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Inclusion Criteria:</a:t>
            </a:r>
            <a:endParaRPr/>
          </a:p>
        </p:txBody>
      </p:sp>
      <p:sp>
        <p:nvSpPr>
          <p:cNvPr id="342" name="Google Shape;342;p32"/>
          <p:cNvSpPr txBox="1">
            <a:spLocks noGrp="1"/>
          </p:cNvSpPr>
          <p:nvPr>
            <p:ph type="subTitle" idx="5"/>
          </p:nvPr>
        </p:nvSpPr>
        <p:spPr>
          <a:xfrm>
            <a:off x="720025" y="2609188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Collection of Public Datasets: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48" name="Google Shape;348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&amp; Curation</a:t>
            </a:r>
            <a:endParaRPr/>
          </a:p>
        </p:txBody>
      </p:sp>
      <p:sp>
        <p:nvSpPr>
          <p:cNvPr id="349" name="Google Shape;349;p33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Anonymization of all patient data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Secure server storage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Standardization of quantitative measurements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Ground truth labeling: education level, disease knowledge, language preference, self-management skills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50" name="Google Shape;350;p33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Processing: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56" name="Google Shape;356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Model Development Pipeline</a:t>
            </a:r>
            <a:endParaRPr/>
          </a:p>
        </p:txBody>
      </p:sp>
      <p:sp>
        <p:nvSpPr>
          <p:cNvPr id="357" name="Google Shape;357;p34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Compare state-of-art LLMs, supervised and unsupervised models (e.g. NLLB, Mistral 7B)</a:t>
            </a:r>
            <a:endParaRPr sz="1600"/>
          </a:p>
        </p:txBody>
      </p:sp>
      <p:sp>
        <p:nvSpPr>
          <p:cNvPr id="358" name="Google Shape;358;p34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70% training / 20% validation / 10% testing</a:t>
            </a:r>
            <a:endParaRPr sz="1600"/>
          </a:p>
        </p:txBody>
      </p:sp>
      <p:sp>
        <p:nvSpPr>
          <p:cNvPr id="359" name="Google Shape;359;p34"/>
          <p:cNvSpPr txBox="1">
            <a:spLocks noGrp="1"/>
          </p:cNvSpPr>
          <p:nvPr>
            <p:ph type="subTitle" idx="3"/>
          </p:nvPr>
        </p:nvSpPr>
        <p:spPr>
          <a:xfrm>
            <a:off x="720000" y="362727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Fine-tuning objectives: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Improve medical accuracy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Enhance linguistic accuracy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Identify patient characteristics for personalization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60" name="Google Shape;360;p34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selection:</a:t>
            </a:r>
            <a:endParaRPr/>
          </a:p>
        </p:txBody>
      </p:sp>
      <p:sp>
        <p:nvSpPr>
          <p:cNvPr id="361" name="Google Shape;361;p34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split: </a:t>
            </a:r>
            <a:endParaRPr/>
          </a:p>
        </p:txBody>
      </p:sp>
      <p:sp>
        <p:nvSpPr>
          <p:cNvPr id="362" name="Google Shape;362;p34"/>
          <p:cNvSpPr txBox="1">
            <a:spLocks noGrp="1"/>
          </p:cNvSpPr>
          <p:nvPr>
            <p:ph type="subTitle" idx="6"/>
          </p:nvPr>
        </p:nvSpPr>
        <p:spPr>
          <a:xfrm>
            <a:off x="720000" y="3175313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performance assessment before fine-tuning</a:t>
            </a:r>
            <a:endParaRPr/>
          </a:p>
        </p:txBody>
      </p:sp>
      <p:cxnSp>
        <p:nvCxnSpPr>
          <p:cNvPr id="363" name="Google Shape;363;p34"/>
          <p:cNvCxnSpPr/>
          <p:nvPr/>
        </p:nvCxnSpPr>
        <p:spPr>
          <a:xfrm flipH="1">
            <a:off x="516400" y="1493975"/>
            <a:ext cx="19800" cy="2716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69" name="Google Shape;369;p35"/>
          <p:cNvSpPr txBox="1">
            <a:spLocks noGrp="1"/>
          </p:cNvSpPr>
          <p:nvPr>
            <p:ph type="title"/>
          </p:nvPr>
        </p:nvSpPr>
        <p:spPr>
          <a:xfrm>
            <a:off x="102050" y="445025"/>
            <a:ext cx="949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Evaluation Framework </a:t>
            </a:r>
            <a:r>
              <a:rPr lang="en" sz="2400"/>
              <a:t>(Multi-Dimensional Assessment)</a:t>
            </a:r>
            <a:endParaRPr/>
          </a:p>
        </p:txBody>
      </p:sp>
      <p:sp>
        <p:nvSpPr>
          <p:cNvPr id="370" name="Google Shape;370;p35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Flesch-Kincaid Grade Level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Chinese Readability Index Explorer 3.0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71" name="Google Shape;371;p35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Research team assessment of medical correctness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Appropriateness of information for patient level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73" name="Google Shape;373;p35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Readability Metrics:</a:t>
            </a:r>
            <a:endParaRPr/>
          </a:p>
        </p:txBody>
      </p:sp>
      <p:sp>
        <p:nvSpPr>
          <p:cNvPr id="374" name="Google Shape;374;p35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Accuracy: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81" name="Google Shape;381;p36"/>
          <p:cNvSpPr txBox="1">
            <a:spLocks noGrp="1"/>
          </p:cNvSpPr>
          <p:nvPr>
            <p:ph type="title"/>
          </p:nvPr>
        </p:nvSpPr>
        <p:spPr>
          <a:xfrm>
            <a:off x="138475" y="445025"/>
            <a:ext cx="940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Evaluation Framework </a:t>
            </a:r>
            <a:r>
              <a:rPr lang="en" sz="2400"/>
              <a:t>(Multi-Dimensional Assessment)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36"/>
          <p:cNvSpPr txBox="1">
            <a:spLocks noGrp="1"/>
          </p:cNvSpPr>
          <p:nvPr>
            <p:ph type="subTitle" idx="3"/>
          </p:nvPr>
        </p:nvSpPr>
        <p:spPr>
          <a:xfrm>
            <a:off x="720025" y="324827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Paired T-tests and ANOVA for continuous variables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McNemar's test for model comparison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dirty="0"/>
              <a:t>Significance level: p &lt; 0.05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83" name="Google Shape;383;p36"/>
          <p:cNvSpPr txBox="1">
            <a:spLocks noGrp="1"/>
          </p:cNvSpPr>
          <p:nvPr>
            <p:ph type="subTitle" idx="6"/>
          </p:nvPr>
        </p:nvSpPr>
        <p:spPr>
          <a:xfrm>
            <a:off x="720025" y="2722575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Statistical Analysis:</a:t>
            </a:r>
            <a:endParaRPr/>
          </a:p>
        </p:txBody>
      </p:sp>
      <p:sp>
        <p:nvSpPr>
          <p:cNvPr id="384" name="Google Shape;384;p36"/>
          <p:cNvSpPr txBox="1">
            <a:spLocks noGrp="1"/>
          </p:cNvSpPr>
          <p:nvPr>
            <p:ph type="subTitle" idx="3"/>
          </p:nvPr>
        </p:nvSpPr>
        <p:spPr>
          <a:xfrm>
            <a:off x="720025" y="1606300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Fact-checking against source reports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Radiologist review of AI outputs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Confidence scoring for uncertain content</a:t>
            </a:r>
            <a:endParaRPr sz="1600"/>
          </a:p>
        </p:txBody>
      </p:sp>
      <p:sp>
        <p:nvSpPr>
          <p:cNvPr id="385" name="Google Shape;385;p36"/>
          <p:cNvSpPr txBox="1">
            <a:spLocks noGrp="1"/>
          </p:cNvSpPr>
          <p:nvPr>
            <p:ph type="subTitle" idx="6"/>
          </p:nvPr>
        </p:nvSpPr>
        <p:spPr>
          <a:xfrm>
            <a:off x="720025" y="1225300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Hallucination Mitigation: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391" name="Google Shape;391;p37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aphicFrame>
        <p:nvGraphicFramePr>
          <p:cNvPr id="392" name="Google Shape;392;p37"/>
          <p:cNvGraphicFramePr/>
          <p:nvPr>
            <p:extLst>
              <p:ext uri="{D42A27DB-BD31-4B8C-83A1-F6EECF244321}">
                <p14:modId xmlns:p14="http://schemas.microsoft.com/office/powerpoint/2010/main" val="4149418299"/>
              </p:ext>
            </p:extLst>
          </p:nvPr>
        </p:nvGraphicFramePr>
        <p:xfrm>
          <a:off x="152408" y="1012950"/>
          <a:ext cx="8838100" cy="2964180"/>
        </p:xfrm>
        <a:graphic>
          <a:graphicData uri="http://schemas.openxmlformats.org/drawingml/2006/table">
            <a:tbl>
              <a:tblPr>
                <a:noFill/>
                <a:tableStyleId>{A265C8C6-A115-405F-994F-0F5153310C72}</a:tableStyleId>
              </a:tblPr>
              <a:tblGrid>
                <a:gridCol w="97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Month</a:t>
                      </a:r>
                      <a:endParaRPr sz="1100" b="1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Milestone</a:t>
                      </a:r>
                      <a:endParaRPr sz="1100" b="1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Deliverable</a:t>
                      </a:r>
                      <a:endParaRPr sz="1100" b="1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Nov 2025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IRB submission &amp; public data collection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Collected data for preliminary training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Nov-Dec 2025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curation &amp; labeling (Public Dataset)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IRB approval &amp; data collection at QEH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Labeled dataset with ground truth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Jan 2026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 selection &amp; baseline testing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Performance benchmarks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Jan 2026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 fine-tuning (RLHF)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Improved model versions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Early Feb 2026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Evaluation &amp; validation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Test set results, statistical analysis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68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Mar 2026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Thesis first draft submission</a:t>
                      </a:r>
                      <a:endParaRPr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Thesis that includes quantitative results</a:t>
                      </a:r>
                      <a:endParaRPr dirty="0"/>
                    </a:p>
                  </a:txBody>
                  <a:tcPr marL="76200" marR="76200" marT="76200" marB="7620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3" name="Google Shape;393;p37"/>
          <p:cNvSpPr txBox="1"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99" name="Google Shape;399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Contingency Plans</a:t>
            </a:r>
            <a:endParaRPr/>
          </a:p>
        </p:txBody>
      </p:sp>
      <p:sp>
        <p:nvSpPr>
          <p:cNvPr id="400" name="Google Shape;400;p38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Mitigation: Test multiple models and not to only limit with LLMs; consider ensemble approaches</a:t>
            </a:r>
            <a:endParaRPr sz="1600"/>
          </a:p>
        </p:txBody>
      </p:sp>
      <p:sp>
        <p:nvSpPr>
          <p:cNvPr id="401" name="Google Shape;401;p38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Mitigation: Parallel preparation of data infrastructure; use public datasets for pipeline testing</a:t>
            </a:r>
            <a:endParaRPr sz="1600"/>
          </a:p>
        </p:txBody>
      </p:sp>
      <p:sp>
        <p:nvSpPr>
          <p:cNvPr id="402" name="Google Shape;402;p38"/>
          <p:cNvSpPr txBox="1">
            <a:spLocks noGrp="1"/>
          </p:cNvSpPr>
          <p:nvPr>
            <p:ph type="subTitle" idx="3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Mitigation: Implement rule-based fact-checking layer; require radiologist review for clinical deployment</a:t>
            </a:r>
            <a:endParaRPr sz="1600"/>
          </a:p>
        </p:txBody>
      </p:sp>
      <p:sp>
        <p:nvSpPr>
          <p:cNvPr id="403" name="Google Shape;403;p38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Poor baseline model performance</a:t>
            </a:r>
            <a:endParaRPr/>
          </a:p>
        </p:txBody>
      </p:sp>
      <p:sp>
        <p:nvSpPr>
          <p:cNvPr id="404" name="Google Shape;404;p38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approval delays</a:t>
            </a:r>
            <a:endParaRPr/>
          </a:p>
        </p:txBody>
      </p:sp>
      <p:sp>
        <p:nvSpPr>
          <p:cNvPr id="405" name="Google Shape;405;p38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hallucinations persist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9"/>
          <p:cNvSpPr txBox="1">
            <a:spLocks noGrp="1"/>
          </p:cNvSpPr>
          <p:nvPr>
            <p:ph type="subTitle" idx="1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411" name="Google Shape;411;p39"/>
          <p:cNvSpPr txBox="1">
            <a:spLocks noGrp="1"/>
          </p:cNvSpPr>
          <p:nvPr>
            <p:ph type="title" idx="2"/>
          </p:nvPr>
        </p:nvSpPr>
        <p:spPr>
          <a:xfrm>
            <a:off x="1779900" y="1854500"/>
            <a:ext cx="558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412" name="Google Shape;412;p39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cxnSp>
        <p:nvCxnSpPr>
          <p:cNvPr id="413" name="Google Shape;413;p39"/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14" name="Google Shape;414;p39"/>
          <p:cNvCxnSpPr/>
          <p:nvPr/>
        </p:nvCxnSpPr>
        <p:spPr>
          <a:xfrm rot="10800000" flipH="1">
            <a:off x="1600600" y="171434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15" name="Google Shape;415;p39"/>
          <p:cNvSpPr/>
          <p:nvPr/>
        </p:nvSpPr>
        <p:spPr>
          <a:xfrm>
            <a:off x="1600600" y="2196050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9"/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>
            <a:spLocks noGrp="1"/>
          </p:cNvSpPr>
          <p:nvPr>
            <p:ph type="title"/>
          </p:nvPr>
        </p:nvSpPr>
        <p:spPr>
          <a:xfrm>
            <a:off x="720000" y="385675"/>
            <a:ext cx="626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References</a:t>
            </a:r>
            <a:endParaRPr sz="2400"/>
          </a:p>
        </p:txBody>
      </p:sp>
      <p:sp>
        <p:nvSpPr>
          <p:cNvPr id="422" name="Google Shape;422;p40"/>
          <p:cNvSpPr txBox="1">
            <a:spLocks noGrp="1"/>
          </p:cNvSpPr>
          <p:nvPr>
            <p:ph type="subTitle" idx="1"/>
          </p:nvPr>
        </p:nvSpPr>
        <p:spPr>
          <a:xfrm>
            <a:off x="175350" y="813125"/>
            <a:ext cx="8793300" cy="31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1.	Mityul MI, Gilcrease-Garcia B, Mangano MD, Demertzis JL, Gunn AJ. Radiology Reporting: Current Practices and an Introduction to Patient-Centered Opportunities for Improvement. AJR Am J Roentgenol. 2018;210(2):376-85.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2.	Reschke P, Booz C, Gruenewald LD, Koch V, Hohne E, Gokduman A, et al. Rethinking radiology reports: A survey of referring physicians' perspectives. Eur J Radiol. 2025;187:112068.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3.	Rogers C, Willis S, Gillard S, Chudleigh J. Patient experience of imaging reports: A systematic literature review. Ultrasound. 2023;31(3):164-75.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4.	Davis Giardina, T., et al. “Patient access to medical records and healthcare outcomes: A systematic review.” Journal of the American Medical Informatics Association, vol. 21, no. 4, 1 July 2014, pp. 737–741, https://doi.org/10.1136/amiajnl-2013-002239. 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5.	Wieland J, Quinn K, Stenger K, Cheng S, Acoba J. Patient Understanding of Oncologic Radiology Reports: Is Access to Electronic Medical Records Helpful? J Cancer Educ. 2023;38(3):895-9.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6.	Alarifi M, Patrick T, Jabour A, Wu M, Luo J. Understanding patient needs and gaps in radiology reports through online discussion forum analysis. Insights Imaging. 2021;12(1):50.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7.	Cook TS, Oh SC, Kahn CE, Jr. Patients' Use and Evaluation of an Online System to Annotate Radiology Reports with Lay Language Definitions. Acad Radiol. 2017;24(9):1169-74.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8.	Kemp J, Short R, Bryant S, Sample L, Befera N. Patient-Friendly Radiology Reporting-Implementation and Outcomes. J Am Coll Radiol. 2022;19(2 Pt B):377-83.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9.	Huisman M, Hannink G. The AI Generalization Gap: One Size Does Not Fit All. Radiol Artif Intell. 2023;5(5):e230246.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10.	Balas, Michael, et al. “Translating ophthalmic medical jargon with artificial intelligence: A comparative comprehension study.” Canadian Journal of Ophthalmology, vol. 60, no. 4, Aug. 2025, https://doi.org/10.1016/j.jcjo.2024.11.003. 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11.	Amin KS, Davis MA, Naderi A, Forman HP. Release of complex imaging reports to patients, do radiologists trust AI to help? Curr Probl Diagn Radiol. 2025;54(2):147-50.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12.	Busch F, Hoffmann L, Xu L, Zhang LJ, Hu B, Garcia-Juarez I, et al. Multinational Attitudes Toward AI in Health Care and Diagnostics Among Hospital Patients. JAMA Netw Open. 2025;8(6):e2514452.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13.	Herwald SE, Shah P, Johnston A, Olsen C, Delbrouck JB, Langlotz CP. RadGPT: A System Based on a Large Language Model That Generates Sets of Patient-Centered Materials to Explain Radiology Report Information. J Am Coll Radiol. 2025;22(9):1050-9.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14.	Dijkman EM, Ter Brake WWM, Drossaert CHC, Doggen CJM. Assessment Tools for Measuring Health Literacy and Digital Health Literacy in a Hospital Setting: A Scoping Review. Healthcare (Basel). 2023;12(1).</a:t>
            </a: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423" name="Google Shape;423;p40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C4DDC5"/>
      </a:lt1>
      <a:dk2>
        <a:srgbClr val="6E8F81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1520</Words>
  <Application>Microsoft Macintosh PowerPoint</Application>
  <PresentationFormat>On-screen Show (16:9)</PresentationFormat>
  <Paragraphs>154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Nunito Light</vt:lpstr>
      <vt:lpstr>Mulish</vt:lpstr>
      <vt:lpstr>Bebas Neue</vt:lpstr>
      <vt:lpstr>DM Sans</vt:lpstr>
      <vt:lpstr>Arial</vt:lpstr>
      <vt:lpstr>Quicksand</vt:lpstr>
      <vt:lpstr>Al Bayan Plain</vt:lpstr>
      <vt:lpstr>PT Sans</vt:lpstr>
      <vt:lpstr>Roboto</vt:lpstr>
      <vt:lpstr>Quicksand Medium</vt:lpstr>
      <vt:lpstr>Times New Roman</vt:lpstr>
      <vt:lpstr>Elegant Bachelor Thesis by Slidesgo</vt:lpstr>
      <vt:lpstr>Contextualized Lay Explanations using AI Radiology reports  An Artificial Intelligence (AI) -powered personalized patient-centred communication system for interpretation of radiology findings</vt:lpstr>
      <vt:lpstr>The Problem – Why this matters</vt:lpstr>
      <vt:lpstr>Current Limitations of AI Solutions</vt:lpstr>
      <vt:lpstr>Research Gap &amp; Innovation</vt:lpstr>
      <vt:lpstr>Research Hypothesis &amp; Objectives</vt:lpstr>
      <vt:lpstr>Study Design Overview</vt:lpstr>
      <vt:lpstr>Data Collection &amp; Curation</vt:lpstr>
      <vt:lpstr>Data Collection &amp; Curation</vt:lpstr>
      <vt:lpstr>AI Model Development Pipeline</vt:lpstr>
      <vt:lpstr>Evaluation Framework (Multi-Dimensional Assessment)</vt:lpstr>
      <vt:lpstr>Evaluation Framework (Multi-Dimensional Assessment) </vt:lpstr>
      <vt:lpstr>Milestones</vt:lpstr>
      <vt:lpstr>Contingency Plans</vt:lpstr>
      <vt:lpstr>Thank you!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Contextualized Lay Explanations using AI Radiology reports  An Artificial Intelligence (AI) -powered personalized patient-centred communication system for interpretation of radiology findings</dc:title>
  <cp:lastModifiedBy>Sin Yu Joanne Hui</cp:lastModifiedBy>
  <cp:revision>2</cp:revision>
  <dcterms:modified xsi:type="dcterms:W3CDTF">2025-11-26T07:59:59Z</dcterms:modified>
</cp:coreProperties>
</file>